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5"/>
  </p:notesMasterIdLst>
  <p:sldIdLst>
    <p:sldId id="287" r:id="rId2"/>
    <p:sldId id="280" r:id="rId3"/>
    <p:sldId id="286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00019378\Desktop\New%20folder%20(4)\GKEL%20Coal%20yard%20M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00019378\Desktop\New%20folder%20(4)\GKEL%20Coal%20yard%20M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00019378\Desktop\New%20folder%20(4)\Rough%20work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chemeClr val="bg1"/>
                </a:solidFill>
              </a:rPr>
              <a:t>Pile composition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3AA-417A-B4EA-D5F929F5485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3AA-417A-B4EA-D5F929F5485A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3AA-417A-B4EA-D5F929F5485A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'blending '!$Y$6:$Y$8</c:f>
              <c:strCache>
                <c:ptCount val="3"/>
                <c:pt idx="0">
                  <c:v>&gt;3500</c:v>
                </c:pt>
                <c:pt idx="1">
                  <c:v>3100-3500</c:v>
                </c:pt>
                <c:pt idx="2">
                  <c:v>&lt;3100</c:v>
                </c:pt>
              </c:strCache>
            </c:strRef>
          </c:cat>
          <c:val>
            <c:numRef>
              <c:f>'blending '!$Z$6:$Z$8</c:f>
              <c:numCache>
                <c:formatCode>0</c:formatCode>
                <c:ptCount val="3"/>
                <c:pt idx="0">
                  <c:v>89439</c:v>
                </c:pt>
                <c:pt idx="1">
                  <c:v>134412</c:v>
                </c:pt>
                <c:pt idx="2">
                  <c:v>81244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3AA-417A-B4EA-D5F929F5485A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bg1"/>
                </a:solidFill>
              </a:rPr>
              <a:t>Pile composition immidiate use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'blending '!$Z$12</c:f>
              <c:strCache>
                <c:ptCount val="1"/>
                <c:pt idx="0">
                  <c:v>GCV 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A74-452B-BE20-F0C8A8085BC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A74-452B-BE20-F0C8A8085BCA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A74-452B-BE20-F0C8A8085BCA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'blending '!$Y$13:$Y$15</c:f>
              <c:strCache>
                <c:ptCount val="3"/>
                <c:pt idx="0">
                  <c:v>&gt;3500</c:v>
                </c:pt>
                <c:pt idx="1">
                  <c:v>3100-3500</c:v>
                </c:pt>
                <c:pt idx="2">
                  <c:v>&lt;3100</c:v>
                </c:pt>
              </c:strCache>
            </c:strRef>
          </c:cat>
          <c:val>
            <c:numRef>
              <c:f>'blending '!$Z$13:$Z$15</c:f>
              <c:numCache>
                <c:formatCode>0</c:formatCode>
                <c:ptCount val="3"/>
                <c:pt idx="0">
                  <c:v>13424.18</c:v>
                </c:pt>
                <c:pt idx="1">
                  <c:v>40272.54</c:v>
                </c:pt>
                <c:pt idx="2">
                  <c:v>68341.280000000013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A74-452B-BE20-F0C8A8085BCA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baseline="0" dirty="0">
                <a:solidFill>
                  <a:schemeClr val="bg1"/>
                </a:solidFill>
              </a:rPr>
              <a:t>Coal stock composition </a:t>
            </a:r>
            <a:endParaRPr lang="en-IN" sz="1400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FAF-4F6C-B987-E68A6C5C67C0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FAF-4F6C-B987-E68A6C5C67C0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FAF-4F6C-B987-E68A6C5C67C0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'Pile blending '!$U$6:$U$8</c:f>
              <c:strCache>
                <c:ptCount val="3"/>
                <c:pt idx="0">
                  <c:v>&lt;3100</c:v>
                </c:pt>
                <c:pt idx="1">
                  <c:v>3100-3500</c:v>
                </c:pt>
                <c:pt idx="2">
                  <c:v>&gt;3500</c:v>
                </c:pt>
              </c:strCache>
            </c:strRef>
          </c:cat>
          <c:val>
            <c:numRef>
              <c:f>'Pile blending '!$V$6:$V$8</c:f>
              <c:numCache>
                <c:formatCode>General</c:formatCode>
                <c:ptCount val="3"/>
                <c:pt idx="0">
                  <c:v>425000</c:v>
                </c:pt>
                <c:pt idx="1">
                  <c:v>18000</c:v>
                </c:pt>
                <c:pt idx="2">
                  <c:v>87000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AF-4F6C-B987-E68A6C5C67C0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4FAF-4F6C-B987-E68A6C5C67C0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FAF-4F6C-B987-E68A6C5C67C0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FAF-4F6C-B987-E68A6C5C67C0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'Pile blending '!$U$6:$U$8</c:f>
              <c:strCache>
                <c:ptCount val="3"/>
                <c:pt idx="0">
                  <c:v>&lt;3100</c:v>
                </c:pt>
                <c:pt idx="1">
                  <c:v>3100-3500</c:v>
                </c:pt>
                <c:pt idx="2">
                  <c:v>&gt;3500</c:v>
                </c:pt>
              </c:strCache>
            </c:strRef>
          </c:cat>
          <c:val>
            <c:numRef>
              <c:f>'Pile blending '!$W$6:$W$8</c:f>
              <c:numCache>
                <c:formatCode>0.0</c:formatCode>
                <c:ptCount val="3"/>
                <c:pt idx="0">
                  <c:v>80.188679245283026</c:v>
                </c:pt>
                <c:pt idx="1">
                  <c:v>3.3962264150943398</c:v>
                </c:pt>
                <c:pt idx="2">
                  <c:v>16.415094339622641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FAF-4F6C-B987-E68A6C5C67C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2025/1/29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611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805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82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菱形 3">
            <a:extLst>
              <a:ext uri="{FF2B5EF4-FFF2-40B4-BE49-F238E27FC236}">
                <a16:creationId xmlns:a16="http://schemas.microsoft.com/office/drawing/2014/main" id="{F4657F05-0016-476B-BBDC-AD8419B135F6}"/>
              </a:ext>
            </a:extLst>
          </p:cNvPr>
          <p:cNvSpPr/>
          <p:nvPr/>
        </p:nvSpPr>
        <p:spPr>
          <a:xfrm>
            <a:off x="2870200" y="139785"/>
            <a:ext cx="6451600" cy="6451600"/>
          </a:xfrm>
          <a:prstGeom prst="diamond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901845-D95B-4441-B572-926B177F55A2}"/>
              </a:ext>
            </a:extLst>
          </p:cNvPr>
          <p:cNvSpPr txBox="1"/>
          <p:nvPr/>
        </p:nvSpPr>
        <p:spPr>
          <a:xfrm>
            <a:off x="6470057" y="2737305"/>
            <a:ext cx="4807544" cy="11387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微软雅黑"/>
              </a:rPr>
              <a:t>Coal Stock Yard Management </a:t>
            </a:r>
            <a:endParaRPr kumimoji="0" lang="en-US" altLang="zh-CN" sz="3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050" name="Picture 2" descr="Coal and biomass handling system - TS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63" y="194420"/>
            <a:ext cx="6497940" cy="639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10C9878-BAA2-4599-8AEA-C905075195A4}"/>
              </a:ext>
            </a:extLst>
          </p:cNvPr>
          <p:cNvSpPr/>
          <p:nvPr/>
        </p:nvSpPr>
        <p:spPr>
          <a:xfrm>
            <a:off x="273563" y="187901"/>
            <a:ext cx="6497940" cy="6385012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8705850 w 12192000"/>
              <a:gd name="connsiteY3" fmla="*/ 3429000 h 3429000"/>
              <a:gd name="connsiteX4" fmla="*/ 8640080 w 12192000"/>
              <a:gd name="connsiteY4" fmla="*/ 3429000 h 3429000"/>
              <a:gd name="connsiteX5" fmla="*/ 3551920 w 12192000"/>
              <a:gd name="connsiteY5" fmla="*/ 3429000 h 3429000"/>
              <a:gd name="connsiteX6" fmla="*/ 348615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705850" y="3429000"/>
                </a:lnTo>
                <a:lnTo>
                  <a:pt x="8640080" y="3429000"/>
                </a:lnTo>
                <a:lnTo>
                  <a:pt x="3551920" y="3429000"/>
                </a:lnTo>
                <a:lnTo>
                  <a:pt x="3486150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图文框 1">
            <a:extLst>
              <a:ext uri="{FF2B5EF4-FFF2-40B4-BE49-F238E27FC236}">
                <a16:creationId xmlns:a16="http://schemas.microsoft.com/office/drawing/2014/main" id="{8E283B52-0BDB-42FF-9410-3EADFF0C0028}"/>
              </a:ext>
            </a:extLst>
          </p:cNvPr>
          <p:cNvSpPr/>
          <p:nvPr/>
        </p:nvSpPr>
        <p:spPr>
          <a:xfrm>
            <a:off x="3848783" y="1773167"/>
            <a:ext cx="8011989" cy="3067051"/>
          </a:xfrm>
          <a:prstGeom prst="frame">
            <a:avLst>
              <a:gd name="adj1" fmla="val 25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61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07237" y="1713186"/>
            <a:ext cx="1609564" cy="4292256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/>
          <p:cNvSpPr/>
          <p:nvPr/>
        </p:nvSpPr>
        <p:spPr>
          <a:xfrm>
            <a:off x="3966967" y="1713186"/>
            <a:ext cx="1823595" cy="4292256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/>
          <p:cNvSpPr/>
          <p:nvPr/>
        </p:nvSpPr>
        <p:spPr>
          <a:xfrm>
            <a:off x="2127209" y="1713186"/>
            <a:ext cx="1823595" cy="4292256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 116"/>
          <p:cNvSpPr/>
          <p:nvPr/>
        </p:nvSpPr>
        <p:spPr>
          <a:xfrm>
            <a:off x="524711" y="1713186"/>
            <a:ext cx="1609541" cy="4292256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10C9878-BAA2-4599-8AEA-C905075195A4}"/>
              </a:ext>
            </a:extLst>
          </p:cNvPr>
          <p:cNvSpPr/>
          <p:nvPr/>
        </p:nvSpPr>
        <p:spPr>
          <a:xfrm>
            <a:off x="-7264" y="11399"/>
            <a:ext cx="12206527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8705850 w 12192000"/>
              <a:gd name="connsiteY3" fmla="*/ 3429000 h 3429000"/>
              <a:gd name="connsiteX4" fmla="*/ 8640080 w 12192000"/>
              <a:gd name="connsiteY4" fmla="*/ 3429000 h 3429000"/>
              <a:gd name="connsiteX5" fmla="*/ 3551920 w 12192000"/>
              <a:gd name="connsiteY5" fmla="*/ 3429000 h 3429000"/>
              <a:gd name="connsiteX6" fmla="*/ 348615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705850" y="3429000"/>
                </a:lnTo>
                <a:lnTo>
                  <a:pt x="8640080" y="3429000"/>
                </a:lnTo>
                <a:lnTo>
                  <a:pt x="3551920" y="3429000"/>
                </a:lnTo>
                <a:lnTo>
                  <a:pt x="3486150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图文框 1">
            <a:extLst>
              <a:ext uri="{FF2B5EF4-FFF2-40B4-BE49-F238E27FC236}">
                <a16:creationId xmlns:a16="http://schemas.microsoft.com/office/drawing/2014/main" id="{8E283B52-0BDB-42FF-9410-3EADFF0C0028}"/>
              </a:ext>
            </a:extLst>
          </p:cNvPr>
          <p:cNvSpPr/>
          <p:nvPr/>
        </p:nvSpPr>
        <p:spPr>
          <a:xfrm>
            <a:off x="330198" y="180126"/>
            <a:ext cx="6874070" cy="977636"/>
          </a:xfrm>
          <a:prstGeom prst="frame">
            <a:avLst>
              <a:gd name="adj1" fmla="val 25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901845-D95B-4441-B572-926B177F55A2}"/>
              </a:ext>
            </a:extLst>
          </p:cNvPr>
          <p:cNvSpPr txBox="1"/>
          <p:nvPr/>
        </p:nvSpPr>
        <p:spPr>
          <a:xfrm>
            <a:off x="592603" y="299331"/>
            <a:ext cx="622707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COAL STOCK YARD MANAGEMENT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Pile GCV   </a:t>
            </a:r>
          </a:p>
        </p:txBody>
      </p:sp>
      <p:sp>
        <p:nvSpPr>
          <p:cNvPr id="9" name="圆角矩形 4"/>
          <p:cNvSpPr/>
          <p:nvPr/>
        </p:nvSpPr>
        <p:spPr>
          <a:xfrm>
            <a:off x="7468368" y="241942"/>
            <a:ext cx="765275" cy="76527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7"/>
          <p:cNvSpPr/>
          <p:nvPr/>
        </p:nvSpPr>
        <p:spPr>
          <a:xfrm>
            <a:off x="8658295" y="221227"/>
            <a:ext cx="765275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0"/>
          <p:cNvSpPr/>
          <p:nvPr/>
        </p:nvSpPr>
        <p:spPr>
          <a:xfrm>
            <a:off x="9864680" y="221227"/>
            <a:ext cx="765275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3"/>
          <p:cNvSpPr/>
          <p:nvPr/>
        </p:nvSpPr>
        <p:spPr>
          <a:xfrm>
            <a:off x="11071065" y="221227"/>
            <a:ext cx="765275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Aging</a:t>
            </a:r>
            <a:endParaRPr lang="zh-CN" altLang="en-US" sz="1100" dirty="0"/>
          </a:p>
        </p:txBody>
      </p:sp>
      <p:sp>
        <p:nvSpPr>
          <p:cNvPr id="17" name="Rectangle 16"/>
          <p:cNvSpPr/>
          <p:nvPr/>
        </p:nvSpPr>
        <p:spPr>
          <a:xfrm>
            <a:off x="665018" y="1893455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665018" y="2951018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665018" y="4008581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665018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231323" y="1892526"/>
            <a:ext cx="563418" cy="919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1228436" y="2955513"/>
            <a:ext cx="563418" cy="905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1228436" y="4004086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228436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2563090" y="1893455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/>
          <p:cNvSpPr/>
          <p:nvPr/>
        </p:nvSpPr>
        <p:spPr>
          <a:xfrm>
            <a:off x="2563090" y="2951018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/>
          <p:cNvSpPr/>
          <p:nvPr/>
        </p:nvSpPr>
        <p:spPr>
          <a:xfrm>
            <a:off x="2563090" y="4008581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/>
          <p:cNvSpPr/>
          <p:nvPr/>
        </p:nvSpPr>
        <p:spPr>
          <a:xfrm>
            <a:off x="2563090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/>
          <p:cNvSpPr/>
          <p:nvPr/>
        </p:nvSpPr>
        <p:spPr>
          <a:xfrm>
            <a:off x="3129395" y="1893455"/>
            <a:ext cx="563418" cy="9188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3126508" y="2946523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/>
          <p:cNvSpPr/>
          <p:nvPr/>
        </p:nvSpPr>
        <p:spPr>
          <a:xfrm>
            <a:off x="3126508" y="4004086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3126508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/>
          <p:cNvSpPr/>
          <p:nvPr/>
        </p:nvSpPr>
        <p:spPr>
          <a:xfrm>
            <a:off x="4297795" y="1893455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4297795" y="2951018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4297795" y="4008581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4297795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4862572" y="1892526"/>
            <a:ext cx="563418" cy="908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4861213" y="2946523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4861213" y="4015702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/>
          <p:cNvSpPr/>
          <p:nvPr/>
        </p:nvSpPr>
        <p:spPr>
          <a:xfrm>
            <a:off x="4861213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6112735" y="1893455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6112735" y="2951018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/>
          <p:cNvSpPr/>
          <p:nvPr/>
        </p:nvSpPr>
        <p:spPr>
          <a:xfrm>
            <a:off x="6112735" y="4008581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/>
          <p:cNvSpPr/>
          <p:nvPr/>
        </p:nvSpPr>
        <p:spPr>
          <a:xfrm>
            <a:off x="6112735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/>
          <p:cNvSpPr/>
          <p:nvPr/>
        </p:nvSpPr>
        <p:spPr>
          <a:xfrm>
            <a:off x="6679040" y="1888372"/>
            <a:ext cx="563418" cy="9239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/>
          <p:cNvSpPr/>
          <p:nvPr/>
        </p:nvSpPr>
        <p:spPr>
          <a:xfrm>
            <a:off x="6676153" y="2946523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/>
          <p:cNvSpPr/>
          <p:nvPr/>
        </p:nvSpPr>
        <p:spPr>
          <a:xfrm>
            <a:off x="6676153" y="4004086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6676153" y="5098470"/>
            <a:ext cx="5634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725054" y="2184016"/>
            <a:ext cx="443346" cy="6238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1272781" y="2348277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/>
          <p:cNvSpPr/>
          <p:nvPr/>
        </p:nvSpPr>
        <p:spPr>
          <a:xfrm>
            <a:off x="2626826" y="3385993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/>
          <p:cNvSpPr/>
          <p:nvPr/>
        </p:nvSpPr>
        <p:spPr>
          <a:xfrm>
            <a:off x="753103" y="3393105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/>
          <p:cNvSpPr/>
          <p:nvPr/>
        </p:nvSpPr>
        <p:spPr>
          <a:xfrm>
            <a:off x="4372263" y="2019644"/>
            <a:ext cx="435946" cy="7837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/>
          <p:cNvSpPr/>
          <p:nvPr/>
        </p:nvSpPr>
        <p:spPr>
          <a:xfrm>
            <a:off x="4940667" y="2556944"/>
            <a:ext cx="435946" cy="230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/>
          <p:cNvSpPr/>
          <p:nvPr/>
        </p:nvSpPr>
        <p:spPr>
          <a:xfrm>
            <a:off x="1277096" y="4465781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/>
          <p:cNvSpPr/>
          <p:nvPr/>
        </p:nvSpPr>
        <p:spPr>
          <a:xfrm>
            <a:off x="714679" y="5555670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ectangle 64"/>
          <p:cNvSpPr/>
          <p:nvPr/>
        </p:nvSpPr>
        <p:spPr>
          <a:xfrm>
            <a:off x="6752720" y="4457533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 65"/>
          <p:cNvSpPr/>
          <p:nvPr/>
        </p:nvSpPr>
        <p:spPr>
          <a:xfrm>
            <a:off x="4358303" y="5542935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/>
          <p:cNvSpPr/>
          <p:nvPr/>
        </p:nvSpPr>
        <p:spPr>
          <a:xfrm>
            <a:off x="4372263" y="4465780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/>
          <p:cNvSpPr/>
          <p:nvPr/>
        </p:nvSpPr>
        <p:spPr>
          <a:xfrm>
            <a:off x="6739889" y="3408087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/>
          <p:cNvSpPr/>
          <p:nvPr/>
        </p:nvSpPr>
        <p:spPr>
          <a:xfrm>
            <a:off x="2608797" y="4137891"/>
            <a:ext cx="443346" cy="761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/>
          <p:cNvSpPr/>
          <p:nvPr/>
        </p:nvSpPr>
        <p:spPr>
          <a:xfrm>
            <a:off x="3166345" y="4150617"/>
            <a:ext cx="443346" cy="761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/>
          <p:cNvSpPr/>
          <p:nvPr/>
        </p:nvSpPr>
        <p:spPr>
          <a:xfrm>
            <a:off x="727945" y="4040908"/>
            <a:ext cx="411018" cy="8831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/>
          <p:cNvSpPr/>
          <p:nvPr/>
        </p:nvSpPr>
        <p:spPr>
          <a:xfrm>
            <a:off x="2635255" y="5190836"/>
            <a:ext cx="411018" cy="824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/>
          <p:cNvSpPr/>
          <p:nvPr/>
        </p:nvSpPr>
        <p:spPr>
          <a:xfrm>
            <a:off x="6188935" y="5186095"/>
            <a:ext cx="411018" cy="824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/>
          <p:cNvSpPr/>
          <p:nvPr/>
        </p:nvSpPr>
        <p:spPr>
          <a:xfrm>
            <a:off x="6182580" y="1975213"/>
            <a:ext cx="411018" cy="8246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/>
          <p:cNvSpPr/>
          <p:nvPr/>
        </p:nvSpPr>
        <p:spPr>
          <a:xfrm>
            <a:off x="6770716" y="2348277"/>
            <a:ext cx="411018" cy="4583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/>
          <p:cNvSpPr/>
          <p:nvPr/>
        </p:nvSpPr>
        <p:spPr>
          <a:xfrm>
            <a:off x="2635877" y="2361065"/>
            <a:ext cx="411018" cy="4583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/>
          <p:cNvSpPr/>
          <p:nvPr/>
        </p:nvSpPr>
        <p:spPr>
          <a:xfrm>
            <a:off x="3203075" y="1975213"/>
            <a:ext cx="411018" cy="829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/>
          <p:cNvSpPr/>
          <p:nvPr/>
        </p:nvSpPr>
        <p:spPr>
          <a:xfrm>
            <a:off x="3198673" y="5186095"/>
            <a:ext cx="411018" cy="829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/>
          <p:cNvSpPr/>
          <p:nvPr/>
        </p:nvSpPr>
        <p:spPr>
          <a:xfrm>
            <a:off x="1285245" y="5168245"/>
            <a:ext cx="411018" cy="829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/>
          <p:cNvSpPr/>
          <p:nvPr/>
        </p:nvSpPr>
        <p:spPr>
          <a:xfrm>
            <a:off x="1286426" y="3137506"/>
            <a:ext cx="432141" cy="704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/>
          <p:cNvSpPr/>
          <p:nvPr/>
        </p:nvSpPr>
        <p:spPr>
          <a:xfrm>
            <a:off x="4929542" y="3163971"/>
            <a:ext cx="408654" cy="704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/>
          <p:cNvSpPr/>
          <p:nvPr/>
        </p:nvSpPr>
        <p:spPr>
          <a:xfrm>
            <a:off x="4936860" y="5293320"/>
            <a:ext cx="408654" cy="704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/>
          <p:cNvSpPr/>
          <p:nvPr/>
        </p:nvSpPr>
        <p:spPr>
          <a:xfrm>
            <a:off x="4358303" y="3408086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/>
          <p:cNvSpPr/>
          <p:nvPr/>
        </p:nvSpPr>
        <p:spPr>
          <a:xfrm>
            <a:off x="6766780" y="5542934"/>
            <a:ext cx="435946" cy="4550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/>
          <p:cNvSpPr/>
          <p:nvPr/>
        </p:nvSpPr>
        <p:spPr>
          <a:xfrm>
            <a:off x="6198638" y="4313369"/>
            <a:ext cx="411018" cy="5865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 85"/>
          <p:cNvSpPr/>
          <p:nvPr/>
        </p:nvSpPr>
        <p:spPr>
          <a:xfrm>
            <a:off x="2640578" y="2645112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87" name="Rectangle 86"/>
          <p:cNvSpPr/>
          <p:nvPr/>
        </p:nvSpPr>
        <p:spPr>
          <a:xfrm>
            <a:off x="761593" y="3675908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88" name="Rectangle 87"/>
          <p:cNvSpPr/>
          <p:nvPr/>
        </p:nvSpPr>
        <p:spPr>
          <a:xfrm>
            <a:off x="716057" y="4754667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89" name="Rectangle 88"/>
          <p:cNvSpPr/>
          <p:nvPr/>
        </p:nvSpPr>
        <p:spPr>
          <a:xfrm>
            <a:off x="4926548" y="3684445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90" name="Rectangle 89"/>
          <p:cNvSpPr/>
          <p:nvPr/>
        </p:nvSpPr>
        <p:spPr>
          <a:xfrm>
            <a:off x="6178606" y="2624575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91" name="Rectangle 90"/>
          <p:cNvSpPr/>
          <p:nvPr/>
        </p:nvSpPr>
        <p:spPr>
          <a:xfrm>
            <a:off x="4375283" y="2631610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92" name="Rectangle 91"/>
          <p:cNvSpPr/>
          <p:nvPr/>
        </p:nvSpPr>
        <p:spPr>
          <a:xfrm>
            <a:off x="6746136" y="3689237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93" name="Rectangle 92"/>
          <p:cNvSpPr/>
          <p:nvPr/>
        </p:nvSpPr>
        <p:spPr>
          <a:xfrm>
            <a:off x="718911" y="2648507"/>
            <a:ext cx="426398" cy="1629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3002</a:t>
            </a:r>
            <a:endParaRPr lang="en-IN" sz="800" dirty="0"/>
          </a:p>
        </p:txBody>
      </p:sp>
      <p:sp>
        <p:nvSpPr>
          <p:cNvPr id="94" name="Rectangle 93"/>
          <p:cNvSpPr/>
          <p:nvPr/>
        </p:nvSpPr>
        <p:spPr>
          <a:xfrm>
            <a:off x="2649173" y="3684445"/>
            <a:ext cx="418966" cy="1728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3001</a:t>
            </a:r>
            <a:endParaRPr lang="en-IN" sz="800" dirty="0"/>
          </a:p>
        </p:txBody>
      </p:sp>
      <p:sp>
        <p:nvSpPr>
          <p:cNvPr id="95" name="Rectangle 94"/>
          <p:cNvSpPr/>
          <p:nvPr/>
        </p:nvSpPr>
        <p:spPr>
          <a:xfrm>
            <a:off x="6769357" y="2630551"/>
            <a:ext cx="418966" cy="1728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2927</a:t>
            </a:r>
            <a:endParaRPr lang="en-IN" sz="800" dirty="0"/>
          </a:p>
        </p:txBody>
      </p:sp>
      <p:sp>
        <p:nvSpPr>
          <p:cNvPr id="96" name="Rectangle 95"/>
          <p:cNvSpPr/>
          <p:nvPr/>
        </p:nvSpPr>
        <p:spPr>
          <a:xfrm>
            <a:off x="6194664" y="4727081"/>
            <a:ext cx="418966" cy="1728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2947</a:t>
            </a:r>
            <a:endParaRPr lang="en-IN" sz="800" dirty="0"/>
          </a:p>
        </p:txBody>
      </p:sp>
      <p:sp>
        <p:nvSpPr>
          <p:cNvPr id="97" name="Rectangle 96"/>
          <p:cNvSpPr/>
          <p:nvPr/>
        </p:nvSpPr>
        <p:spPr>
          <a:xfrm>
            <a:off x="4393706" y="5832635"/>
            <a:ext cx="418966" cy="1728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2847</a:t>
            </a:r>
            <a:endParaRPr lang="en-IN" sz="800" dirty="0"/>
          </a:p>
        </p:txBody>
      </p:sp>
      <p:sp>
        <p:nvSpPr>
          <p:cNvPr id="98" name="Rectangle 97"/>
          <p:cNvSpPr/>
          <p:nvPr/>
        </p:nvSpPr>
        <p:spPr>
          <a:xfrm>
            <a:off x="2640578" y="5832634"/>
            <a:ext cx="418966" cy="1728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3047</a:t>
            </a:r>
            <a:endParaRPr lang="en-IN" sz="800" dirty="0"/>
          </a:p>
        </p:txBody>
      </p:sp>
      <p:sp>
        <p:nvSpPr>
          <p:cNvPr id="99" name="Rectangle 98"/>
          <p:cNvSpPr/>
          <p:nvPr/>
        </p:nvSpPr>
        <p:spPr>
          <a:xfrm>
            <a:off x="6198638" y="5832633"/>
            <a:ext cx="418966" cy="1728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3100</a:t>
            </a:r>
            <a:endParaRPr lang="en-IN" sz="800" dirty="0"/>
          </a:p>
        </p:txBody>
      </p:sp>
      <p:sp>
        <p:nvSpPr>
          <p:cNvPr id="100" name="Rectangle 99"/>
          <p:cNvSpPr/>
          <p:nvPr/>
        </p:nvSpPr>
        <p:spPr>
          <a:xfrm>
            <a:off x="3176908" y="4718747"/>
            <a:ext cx="418966" cy="1728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3047</a:t>
            </a:r>
            <a:endParaRPr lang="en-IN" sz="800" dirty="0"/>
          </a:p>
        </p:txBody>
      </p:sp>
      <p:sp>
        <p:nvSpPr>
          <p:cNvPr id="101" name="Rectangle 100"/>
          <p:cNvSpPr/>
          <p:nvPr/>
        </p:nvSpPr>
        <p:spPr>
          <a:xfrm>
            <a:off x="2612810" y="4715485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3947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197565" y="2655602"/>
            <a:ext cx="424500" cy="1462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103" name="Rectangle 102"/>
          <p:cNvSpPr/>
          <p:nvPr/>
        </p:nvSpPr>
        <p:spPr>
          <a:xfrm>
            <a:off x="6766097" y="4735662"/>
            <a:ext cx="418966" cy="172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104" name="Rectangle 103"/>
          <p:cNvSpPr/>
          <p:nvPr/>
        </p:nvSpPr>
        <p:spPr>
          <a:xfrm>
            <a:off x="1288537" y="3691221"/>
            <a:ext cx="422170" cy="1493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3247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276115" y="5825208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3747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272781" y="4738844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3547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386789" y="4749113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3847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4926548" y="5824906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3747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781305" y="5824905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3847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711829" y="5827263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3997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366793" y="3684445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3647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3190725" y="5830195"/>
            <a:ext cx="418966" cy="1728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3447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272781" y="2634643"/>
            <a:ext cx="428864" cy="17314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3247</a:t>
            </a:r>
            <a:endParaRPr lang="en-IN" sz="800" dirty="0"/>
          </a:p>
        </p:txBody>
      </p:sp>
      <p:sp>
        <p:nvSpPr>
          <p:cNvPr id="122" name="圆角矩形 4"/>
          <p:cNvSpPr/>
          <p:nvPr/>
        </p:nvSpPr>
        <p:spPr>
          <a:xfrm>
            <a:off x="737009" y="6189441"/>
            <a:ext cx="1014982" cy="3208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PILE 1</a:t>
            </a:r>
            <a:endParaRPr lang="zh-CN" altLang="en-US" dirty="0"/>
          </a:p>
        </p:txBody>
      </p:sp>
      <p:sp>
        <p:nvSpPr>
          <p:cNvPr id="123" name="圆角矩形 4"/>
          <p:cNvSpPr/>
          <p:nvPr/>
        </p:nvSpPr>
        <p:spPr>
          <a:xfrm>
            <a:off x="2619017" y="6189441"/>
            <a:ext cx="1014982" cy="3208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PILE 2</a:t>
            </a:r>
            <a:endParaRPr lang="zh-CN" altLang="en-US" dirty="0"/>
          </a:p>
        </p:txBody>
      </p:sp>
      <p:sp>
        <p:nvSpPr>
          <p:cNvPr id="124" name="圆角矩形 4"/>
          <p:cNvSpPr/>
          <p:nvPr/>
        </p:nvSpPr>
        <p:spPr>
          <a:xfrm>
            <a:off x="4386789" y="6200292"/>
            <a:ext cx="1014982" cy="3208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PILE 3</a:t>
            </a:r>
            <a:endParaRPr lang="zh-CN" altLang="en-US" dirty="0"/>
          </a:p>
        </p:txBody>
      </p:sp>
      <p:sp>
        <p:nvSpPr>
          <p:cNvPr id="125" name="圆角矩形 4"/>
          <p:cNvSpPr/>
          <p:nvPr/>
        </p:nvSpPr>
        <p:spPr>
          <a:xfrm>
            <a:off x="6224589" y="6192900"/>
            <a:ext cx="1014982" cy="3208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PILE 4</a:t>
            </a:r>
            <a:endParaRPr lang="zh-CN" altLang="en-US" dirty="0"/>
          </a:p>
        </p:txBody>
      </p:sp>
      <p:sp>
        <p:nvSpPr>
          <p:cNvPr id="126" name="圆角矩形 4"/>
          <p:cNvSpPr/>
          <p:nvPr/>
        </p:nvSpPr>
        <p:spPr>
          <a:xfrm>
            <a:off x="1341723" y="1406579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127" name="圆角矩形 4"/>
          <p:cNvSpPr/>
          <p:nvPr/>
        </p:nvSpPr>
        <p:spPr>
          <a:xfrm>
            <a:off x="2651174" y="1430821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128" name="圆角矩形 4"/>
          <p:cNvSpPr/>
          <p:nvPr/>
        </p:nvSpPr>
        <p:spPr>
          <a:xfrm>
            <a:off x="4940422" y="1442114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129" name="圆角矩形 4"/>
          <p:cNvSpPr/>
          <p:nvPr/>
        </p:nvSpPr>
        <p:spPr>
          <a:xfrm>
            <a:off x="6188088" y="1430821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130" name="圆角矩形 4"/>
          <p:cNvSpPr/>
          <p:nvPr/>
        </p:nvSpPr>
        <p:spPr>
          <a:xfrm>
            <a:off x="705459" y="1406579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31" name="圆角矩形 4"/>
          <p:cNvSpPr/>
          <p:nvPr/>
        </p:nvSpPr>
        <p:spPr>
          <a:xfrm>
            <a:off x="3251581" y="1434989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32" name="圆角矩形 4"/>
          <p:cNvSpPr/>
          <p:nvPr/>
        </p:nvSpPr>
        <p:spPr>
          <a:xfrm>
            <a:off x="4375283" y="1447197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34" name="圆角矩形 4"/>
          <p:cNvSpPr/>
          <p:nvPr/>
        </p:nvSpPr>
        <p:spPr>
          <a:xfrm>
            <a:off x="6778061" y="1445738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pic>
        <p:nvPicPr>
          <p:cNvPr id="135" name="Picture 1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26642" y="3047803"/>
            <a:ext cx="2638425" cy="179405"/>
          </a:xfrm>
          <a:prstGeom prst="rect">
            <a:avLst/>
          </a:prstGeom>
        </p:spPr>
      </p:pic>
      <p:pic>
        <p:nvPicPr>
          <p:cNvPr id="136" name="Picture 1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26641" y="4236754"/>
            <a:ext cx="2638425" cy="179405"/>
          </a:xfrm>
          <a:prstGeom prst="rect">
            <a:avLst/>
          </a:prstGeom>
        </p:spPr>
      </p:pic>
      <p:pic>
        <p:nvPicPr>
          <p:cNvPr id="137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23650" y="3133485"/>
            <a:ext cx="2638425" cy="179405"/>
          </a:xfrm>
          <a:prstGeom prst="rect">
            <a:avLst/>
          </a:prstGeom>
        </p:spPr>
      </p:pic>
      <p:pic>
        <p:nvPicPr>
          <p:cNvPr id="138" name="Picture 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18224" y="4395762"/>
            <a:ext cx="2059429" cy="140035"/>
          </a:xfrm>
          <a:prstGeom prst="rect">
            <a:avLst/>
          </a:prstGeom>
        </p:spPr>
      </p:pic>
      <p:pic>
        <p:nvPicPr>
          <p:cNvPr id="139" name="Picture 1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099" y="2933664"/>
            <a:ext cx="554209" cy="214950"/>
          </a:xfrm>
          <a:prstGeom prst="rect">
            <a:avLst/>
          </a:prstGeom>
        </p:spPr>
      </p:pic>
      <p:pic>
        <p:nvPicPr>
          <p:cNvPr id="140" name="Picture 1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264" y="4358305"/>
            <a:ext cx="554209" cy="214950"/>
          </a:xfrm>
          <a:prstGeom prst="rect">
            <a:avLst/>
          </a:prstGeom>
        </p:spPr>
      </p:pic>
      <p:sp>
        <p:nvSpPr>
          <p:cNvPr id="141" name="圆角矩形 4"/>
          <p:cNvSpPr/>
          <p:nvPr/>
        </p:nvSpPr>
        <p:spPr>
          <a:xfrm>
            <a:off x="70128" y="5374900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42" name="圆角矩形 4"/>
          <p:cNvSpPr/>
          <p:nvPr/>
        </p:nvSpPr>
        <p:spPr>
          <a:xfrm>
            <a:off x="84944" y="4301860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43" name="圆角矩形 4"/>
          <p:cNvSpPr/>
          <p:nvPr/>
        </p:nvSpPr>
        <p:spPr>
          <a:xfrm>
            <a:off x="96683" y="3245551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44" name="圆角矩形 4"/>
          <p:cNvSpPr/>
          <p:nvPr/>
        </p:nvSpPr>
        <p:spPr>
          <a:xfrm>
            <a:off x="73758" y="2142938"/>
            <a:ext cx="397774" cy="2707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149" name="圆角矩形 4"/>
          <p:cNvSpPr/>
          <p:nvPr/>
        </p:nvSpPr>
        <p:spPr>
          <a:xfrm>
            <a:off x="7468368" y="438116"/>
            <a:ext cx="687409" cy="37292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GCV</a:t>
            </a:r>
            <a:endParaRPr lang="zh-CN" altLang="en-US" sz="1200" dirty="0"/>
          </a:p>
        </p:txBody>
      </p:sp>
      <p:sp>
        <p:nvSpPr>
          <p:cNvPr id="150" name="圆角矩形 4"/>
          <p:cNvSpPr/>
          <p:nvPr/>
        </p:nvSpPr>
        <p:spPr>
          <a:xfrm>
            <a:off x="8674753" y="438116"/>
            <a:ext cx="687409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</a:t>
            </a:r>
            <a:r>
              <a:rPr lang="en-US" altLang="zh-CN" sz="1000" dirty="0"/>
              <a:t>BLEND</a:t>
            </a:r>
            <a:endParaRPr lang="zh-CN" altLang="en-US" sz="1200" dirty="0"/>
          </a:p>
        </p:txBody>
      </p:sp>
      <p:sp>
        <p:nvSpPr>
          <p:cNvPr id="151" name="圆角矩形 4"/>
          <p:cNvSpPr/>
          <p:nvPr/>
        </p:nvSpPr>
        <p:spPr>
          <a:xfrm>
            <a:off x="9903612" y="438116"/>
            <a:ext cx="687409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Stack</a:t>
            </a:r>
            <a:endParaRPr lang="zh-CN" altLang="en-US" sz="1200" dirty="0"/>
          </a:p>
        </p:txBody>
      </p:sp>
      <p:sp>
        <p:nvSpPr>
          <p:cNvPr id="152" name="圆角矩形 7"/>
          <p:cNvSpPr/>
          <p:nvPr/>
        </p:nvSpPr>
        <p:spPr>
          <a:xfrm>
            <a:off x="10267405" y="5250442"/>
            <a:ext cx="1381943" cy="29805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NOT HEALTHY</a:t>
            </a:r>
            <a:endParaRPr lang="zh-CN" altLang="en-US" sz="1200" dirty="0"/>
          </a:p>
        </p:txBody>
      </p:sp>
      <p:sp>
        <p:nvSpPr>
          <p:cNvPr id="153" name="圆角矩形 7"/>
          <p:cNvSpPr/>
          <p:nvPr/>
        </p:nvSpPr>
        <p:spPr>
          <a:xfrm>
            <a:off x="10890810" y="2804419"/>
            <a:ext cx="967039" cy="316393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HEALTHY</a:t>
            </a:r>
            <a:endParaRPr lang="zh-CN" altLang="en-US" sz="1200" dirty="0"/>
          </a:p>
        </p:txBody>
      </p:sp>
      <p:sp>
        <p:nvSpPr>
          <p:cNvPr id="180" name="圆角矩形 4"/>
          <p:cNvSpPr/>
          <p:nvPr/>
        </p:nvSpPr>
        <p:spPr>
          <a:xfrm>
            <a:off x="7704646" y="6109537"/>
            <a:ext cx="765275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圆角矩形 7"/>
          <p:cNvSpPr/>
          <p:nvPr/>
        </p:nvSpPr>
        <p:spPr>
          <a:xfrm>
            <a:off x="9120242" y="6083258"/>
            <a:ext cx="765275" cy="39920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圆角矩形 10"/>
          <p:cNvSpPr/>
          <p:nvPr/>
        </p:nvSpPr>
        <p:spPr>
          <a:xfrm>
            <a:off x="10589486" y="6083258"/>
            <a:ext cx="765275" cy="4321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圆角矩形 4"/>
          <p:cNvSpPr/>
          <p:nvPr/>
        </p:nvSpPr>
        <p:spPr>
          <a:xfrm>
            <a:off x="7738974" y="6083258"/>
            <a:ext cx="687409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3250</a:t>
            </a:r>
            <a:endParaRPr lang="zh-CN" altLang="en-US" sz="1200" dirty="0"/>
          </a:p>
        </p:txBody>
      </p:sp>
      <p:sp>
        <p:nvSpPr>
          <p:cNvPr id="185" name="圆角矩形 4"/>
          <p:cNvSpPr/>
          <p:nvPr/>
        </p:nvSpPr>
        <p:spPr>
          <a:xfrm>
            <a:off x="9146498" y="6109537"/>
            <a:ext cx="687409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3421</a:t>
            </a:r>
            <a:endParaRPr lang="zh-CN" altLang="en-US" sz="1200" dirty="0"/>
          </a:p>
        </p:txBody>
      </p:sp>
      <p:sp>
        <p:nvSpPr>
          <p:cNvPr id="186" name="圆角矩形 4"/>
          <p:cNvSpPr/>
          <p:nvPr/>
        </p:nvSpPr>
        <p:spPr>
          <a:xfrm>
            <a:off x="10614673" y="6142477"/>
            <a:ext cx="687409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3112</a:t>
            </a:r>
            <a:endParaRPr lang="zh-CN" altLang="en-US" sz="1200" dirty="0"/>
          </a:p>
        </p:txBody>
      </p:sp>
      <p:sp>
        <p:nvSpPr>
          <p:cNvPr id="187" name="圆角矩形 4"/>
          <p:cNvSpPr/>
          <p:nvPr/>
        </p:nvSpPr>
        <p:spPr>
          <a:xfrm>
            <a:off x="7486071" y="6482465"/>
            <a:ext cx="1285909" cy="3914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Pile </a:t>
            </a:r>
            <a:r>
              <a:rPr lang="en-US" altLang="zh-CN" sz="1200" dirty="0" err="1"/>
              <a:t>wtd</a:t>
            </a:r>
            <a:r>
              <a:rPr lang="en-US" altLang="zh-CN" sz="1200" dirty="0"/>
              <a:t> GCV </a:t>
            </a:r>
            <a:endParaRPr lang="zh-CN" altLang="en-US" sz="1200" dirty="0"/>
          </a:p>
        </p:txBody>
      </p:sp>
      <p:sp>
        <p:nvSpPr>
          <p:cNvPr id="189" name="圆角矩形 4"/>
          <p:cNvSpPr/>
          <p:nvPr/>
        </p:nvSpPr>
        <p:spPr>
          <a:xfrm>
            <a:off x="8880601" y="6493863"/>
            <a:ext cx="1285909" cy="39144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Top </a:t>
            </a:r>
            <a:r>
              <a:rPr lang="en-US" altLang="zh-CN" sz="1200" dirty="0" err="1"/>
              <a:t>wtd</a:t>
            </a:r>
            <a:r>
              <a:rPr lang="en-US" altLang="zh-CN" sz="1200" dirty="0"/>
              <a:t> GCV </a:t>
            </a:r>
            <a:endParaRPr lang="zh-CN" altLang="en-US" sz="1200" dirty="0"/>
          </a:p>
        </p:txBody>
      </p:sp>
      <p:sp>
        <p:nvSpPr>
          <p:cNvPr id="190" name="圆角矩形 4"/>
          <p:cNvSpPr/>
          <p:nvPr/>
        </p:nvSpPr>
        <p:spPr>
          <a:xfrm>
            <a:off x="10268849" y="6486238"/>
            <a:ext cx="1489300" cy="4190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Bottom </a:t>
            </a:r>
            <a:r>
              <a:rPr lang="en-US" altLang="zh-CN" sz="1200" dirty="0" err="1"/>
              <a:t>wtd</a:t>
            </a:r>
            <a:r>
              <a:rPr lang="en-US" altLang="zh-CN" sz="1200" dirty="0"/>
              <a:t> GCV </a:t>
            </a:r>
            <a:endParaRPr lang="zh-CN" altLang="en-US" sz="1200" dirty="0"/>
          </a:p>
        </p:txBody>
      </p:sp>
      <p:graphicFrame>
        <p:nvGraphicFramePr>
          <p:cNvPr id="147" name="Chart 14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5730096"/>
              </p:ext>
            </p:extLst>
          </p:nvPr>
        </p:nvGraphicFramePr>
        <p:xfrm>
          <a:off x="7488789" y="1172377"/>
          <a:ext cx="4327130" cy="21447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4" name="Chart 1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2394390"/>
              </p:ext>
            </p:extLst>
          </p:nvPr>
        </p:nvGraphicFramePr>
        <p:xfrm>
          <a:off x="7468368" y="3518590"/>
          <a:ext cx="4367972" cy="212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33403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0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5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80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9000"/>
                            </p:stCondLst>
                            <p:childTnLst>
                              <p:par>
                                <p:cTn id="1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95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3500"/>
                            </p:stCondLst>
                            <p:childTnLst>
                              <p:par>
                                <p:cTn id="1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4000"/>
                            </p:stCondLst>
                            <p:childTnLst>
                              <p:par>
                                <p:cTn id="2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4500"/>
                            </p:stCondLst>
                            <p:childTnLst>
                              <p:par>
                                <p:cTn id="2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5" grpId="0"/>
      <p:bldP spid="9" grpId="0" animBg="1"/>
      <p:bldP spid="11" grpId="0" animBg="1"/>
      <p:bldP spid="13" grpId="0" animBg="1"/>
      <p:bldP spid="15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4" grpId="0" animBg="1"/>
      <p:bldP spid="141" grpId="0" animBg="1"/>
      <p:bldP spid="142" grpId="0" animBg="1"/>
      <p:bldP spid="143" grpId="0" animBg="1"/>
      <p:bldP spid="144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80" grpId="0" animBg="1"/>
      <p:bldP spid="181" grpId="0" animBg="1"/>
      <p:bldP spid="182" grpId="0" animBg="1"/>
      <p:bldP spid="184" grpId="0" animBg="1"/>
      <p:bldP spid="185" grpId="0" animBg="1"/>
      <p:bldP spid="186" grpId="0" animBg="1"/>
      <p:bldP spid="187" grpId="0"/>
      <p:bldP spid="189" grpId="0"/>
      <p:bldP spid="1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10C9878-BAA2-4599-8AEA-C905075195A4}"/>
              </a:ext>
            </a:extLst>
          </p:cNvPr>
          <p:cNvSpPr/>
          <p:nvPr/>
        </p:nvSpPr>
        <p:spPr>
          <a:xfrm>
            <a:off x="0" y="-6746"/>
            <a:ext cx="12206527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8705850 w 12192000"/>
              <a:gd name="connsiteY3" fmla="*/ 3429000 h 3429000"/>
              <a:gd name="connsiteX4" fmla="*/ 8640080 w 12192000"/>
              <a:gd name="connsiteY4" fmla="*/ 3429000 h 3429000"/>
              <a:gd name="connsiteX5" fmla="*/ 3551920 w 12192000"/>
              <a:gd name="connsiteY5" fmla="*/ 3429000 h 3429000"/>
              <a:gd name="connsiteX6" fmla="*/ 348615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705850" y="3429000"/>
                </a:lnTo>
                <a:lnTo>
                  <a:pt x="8640080" y="3429000"/>
                </a:lnTo>
                <a:lnTo>
                  <a:pt x="3551920" y="3429000"/>
                </a:lnTo>
                <a:lnTo>
                  <a:pt x="3486150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图文框 1">
            <a:extLst>
              <a:ext uri="{FF2B5EF4-FFF2-40B4-BE49-F238E27FC236}">
                <a16:creationId xmlns:a16="http://schemas.microsoft.com/office/drawing/2014/main" id="{8E283B52-0BDB-42FF-9410-3EADFF0C0028}"/>
              </a:ext>
            </a:extLst>
          </p:cNvPr>
          <p:cNvSpPr/>
          <p:nvPr/>
        </p:nvSpPr>
        <p:spPr>
          <a:xfrm>
            <a:off x="330198" y="180126"/>
            <a:ext cx="6874070" cy="977636"/>
          </a:xfrm>
          <a:prstGeom prst="frame">
            <a:avLst>
              <a:gd name="adj1" fmla="val 25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901845-D95B-4441-B572-926B177F55A2}"/>
              </a:ext>
            </a:extLst>
          </p:cNvPr>
          <p:cNvSpPr txBox="1"/>
          <p:nvPr/>
        </p:nvSpPr>
        <p:spPr>
          <a:xfrm>
            <a:off x="592603" y="299331"/>
            <a:ext cx="622707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COAL STOCK YARD MANAGEMENT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Direct feed , blending and stalking decision  </a:t>
            </a:r>
          </a:p>
        </p:txBody>
      </p:sp>
      <p:sp>
        <p:nvSpPr>
          <p:cNvPr id="9" name="圆角矩形 4"/>
          <p:cNvSpPr/>
          <p:nvPr/>
        </p:nvSpPr>
        <p:spPr>
          <a:xfrm>
            <a:off x="7468368" y="241942"/>
            <a:ext cx="765275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7"/>
          <p:cNvSpPr/>
          <p:nvPr/>
        </p:nvSpPr>
        <p:spPr>
          <a:xfrm>
            <a:off x="8658295" y="221227"/>
            <a:ext cx="765275" cy="76527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0"/>
          <p:cNvSpPr/>
          <p:nvPr/>
        </p:nvSpPr>
        <p:spPr>
          <a:xfrm>
            <a:off x="9864680" y="221227"/>
            <a:ext cx="765275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3"/>
          <p:cNvSpPr/>
          <p:nvPr/>
        </p:nvSpPr>
        <p:spPr>
          <a:xfrm>
            <a:off x="11071065" y="221227"/>
            <a:ext cx="765275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Aging</a:t>
            </a:r>
            <a:endParaRPr lang="zh-CN" altLang="en-US" sz="1100" dirty="0"/>
          </a:p>
        </p:txBody>
      </p:sp>
      <p:sp>
        <p:nvSpPr>
          <p:cNvPr id="149" name="圆角矩形 4"/>
          <p:cNvSpPr/>
          <p:nvPr/>
        </p:nvSpPr>
        <p:spPr>
          <a:xfrm>
            <a:off x="7488739" y="412171"/>
            <a:ext cx="687409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GCV</a:t>
            </a:r>
            <a:endParaRPr lang="zh-CN" altLang="en-US" sz="1200" dirty="0"/>
          </a:p>
        </p:txBody>
      </p:sp>
      <p:sp>
        <p:nvSpPr>
          <p:cNvPr id="150" name="圆角矩形 4"/>
          <p:cNvSpPr/>
          <p:nvPr/>
        </p:nvSpPr>
        <p:spPr>
          <a:xfrm>
            <a:off x="8674753" y="438116"/>
            <a:ext cx="687409" cy="37292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</a:t>
            </a:r>
            <a:r>
              <a:rPr lang="en-US" altLang="zh-CN" sz="1000" dirty="0"/>
              <a:t>BLEND</a:t>
            </a:r>
            <a:endParaRPr lang="zh-CN" altLang="en-US" sz="1200" dirty="0"/>
          </a:p>
        </p:txBody>
      </p:sp>
      <p:sp>
        <p:nvSpPr>
          <p:cNvPr id="151" name="圆角矩形 4"/>
          <p:cNvSpPr/>
          <p:nvPr/>
        </p:nvSpPr>
        <p:spPr>
          <a:xfrm>
            <a:off x="9903612" y="438116"/>
            <a:ext cx="687409" cy="372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 Stack</a:t>
            </a:r>
            <a:endParaRPr lang="zh-CN" alt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675" y="4066216"/>
            <a:ext cx="2603896" cy="494434"/>
          </a:xfrm>
          <a:prstGeom prst="rect">
            <a:avLst/>
          </a:prstGeom>
        </p:spPr>
      </p:pic>
      <p:sp>
        <p:nvSpPr>
          <p:cNvPr id="19" name="圆角矩形 4"/>
          <p:cNvSpPr/>
          <p:nvPr/>
        </p:nvSpPr>
        <p:spPr>
          <a:xfrm>
            <a:off x="8970675" y="4775405"/>
            <a:ext cx="1808161" cy="38263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Incoming coal </a:t>
            </a:r>
            <a:endParaRPr lang="zh-CN" altLang="en-US" sz="1200" dirty="0"/>
          </a:p>
        </p:txBody>
      </p:sp>
      <p:sp>
        <p:nvSpPr>
          <p:cNvPr id="22" name="圆角矩形 4"/>
          <p:cNvSpPr/>
          <p:nvPr/>
        </p:nvSpPr>
        <p:spPr>
          <a:xfrm>
            <a:off x="8970675" y="5199727"/>
            <a:ext cx="1808161" cy="38263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Incoming GCV last 5  </a:t>
            </a:r>
            <a:endParaRPr lang="zh-CN" altLang="en-US" sz="1200" dirty="0"/>
          </a:p>
        </p:txBody>
      </p:sp>
      <p:sp>
        <p:nvSpPr>
          <p:cNvPr id="23" name="圆角矩形 4"/>
          <p:cNvSpPr/>
          <p:nvPr/>
        </p:nvSpPr>
        <p:spPr>
          <a:xfrm>
            <a:off x="8970675" y="6093251"/>
            <a:ext cx="2568768" cy="4461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Required GCV range 3470 -3130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24" name="圆角矩形 4"/>
          <p:cNvSpPr/>
          <p:nvPr/>
        </p:nvSpPr>
        <p:spPr>
          <a:xfrm>
            <a:off x="10827622" y="4775405"/>
            <a:ext cx="711821" cy="37686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Spur-5 </a:t>
            </a:r>
            <a:endParaRPr lang="zh-CN" altLang="en-US" sz="1200" dirty="0"/>
          </a:p>
        </p:txBody>
      </p:sp>
      <p:sp>
        <p:nvSpPr>
          <p:cNvPr id="25" name="圆角矩形 4"/>
          <p:cNvSpPr/>
          <p:nvPr/>
        </p:nvSpPr>
        <p:spPr>
          <a:xfrm>
            <a:off x="340898" y="1641250"/>
            <a:ext cx="2394542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Direct feeding  </a:t>
            </a:r>
            <a:endParaRPr lang="zh-CN" altLang="en-US" dirty="0"/>
          </a:p>
        </p:txBody>
      </p:sp>
      <p:sp>
        <p:nvSpPr>
          <p:cNvPr id="26" name="圆角矩形 4"/>
          <p:cNvSpPr/>
          <p:nvPr/>
        </p:nvSpPr>
        <p:spPr>
          <a:xfrm>
            <a:off x="3018595" y="1653981"/>
            <a:ext cx="2394542" cy="76527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Direct feeding with blending </a:t>
            </a:r>
            <a:endParaRPr lang="zh-CN" altLang="en-US" dirty="0"/>
          </a:p>
        </p:txBody>
      </p:sp>
      <p:sp>
        <p:nvSpPr>
          <p:cNvPr id="27" name="圆角矩形 4"/>
          <p:cNvSpPr/>
          <p:nvPr/>
        </p:nvSpPr>
        <p:spPr>
          <a:xfrm>
            <a:off x="5696292" y="1666424"/>
            <a:ext cx="2394542" cy="765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Stalking </a:t>
            </a:r>
            <a:endParaRPr lang="zh-CN" altLang="en-US" dirty="0"/>
          </a:p>
        </p:txBody>
      </p:sp>
      <p:graphicFrame>
        <p:nvGraphicFramePr>
          <p:cNvPr id="30" name="Char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272324"/>
              </p:ext>
            </p:extLst>
          </p:nvPr>
        </p:nvGraphicFramePr>
        <p:xfrm>
          <a:off x="8721128" y="1248285"/>
          <a:ext cx="3314784" cy="2502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圆角矩形 4"/>
          <p:cNvSpPr/>
          <p:nvPr/>
        </p:nvSpPr>
        <p:spPr>
          <a:xfrm>
            <a:off x="8970675" y="5614756"/>
            <a:ext cx="1808161" cy="39811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Allowed GCV deviation 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29" name="圆角矩形 4"/>
          <p:cNvSpPr/>
          <p:nvPr/>
        </p:nvSpPr>
        <p:spPr>
          <a:xfrm>
            <a:off x="10838526" y="5204280"/>
            <a:ext cx="700917" cy="3289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3000 </a:t>
            </a:r>
            <a:endParaRPr lang="zh-CN" altLang="en-US" sz="1200" dirty="0"/>
          </a:p>
        </p:txBody>
      </p:sp>
      <p:sp>
        <p:nvSpPr>
          <p:cNvPr id="31" name="圆角矩形 4"/>
          <p:cNvSpPr/>
          <p:nvPr/>
        </p:nvSpPr>
        <p:spPr>
          <a:xfrm>
            <a:off x="10833073" y="5663153"/>
            <a:ext cx="700917" cy="3289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5% </a:t>
            </a:r>
            <a:endParaRPr lang="zh-CN" altLang="en-US" sz="1200" dirty="0"/>
          </a:p>
        </p:txBody>
      </p:sp>
      <p:sp>
        <p:nvSpPr>
          <p:cNvPr id="32" name="圆角矩形 4"/>
          <p:cNvSpPr/>
          <p:nvPr/>
        </p:nvSpPr>
        <p:spPr>
          <a:xfrm>
            <a:off x="132232" y="6241181"/>
            <a:ext cx="8043916" cy="29817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Direct feeding with blending suggestion  </a:t>
            </a:r>
            <a:endParaRPr lang="zh-CN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26210"/>
              </p:ext>
            </p:extLst>
          </p:nvPr>
        </p:nvGraphicFramePr>
        <p:xfrm>
          <a:off x="340897" y="2673640"/>
          <a:ext cx="7722222" cy="3423336"/>
        </p:xfrm>
        <a:graphic>
          <a:graphicData uri="http://schemas.openxmlformats.org/drawingml/2006/table">
            <a:tbl>
              <a:tblPr/>
              <a:tblGrid>
                <a:gridCol w="792022">
                  <a:extLst>
                    <a:ext uri="{9D8B030D-6E8A-4147-A177-3AD203B41FA5}">
                      <a16:colId xmlns:a16="http://schemas.microsoft.com/office/drawing/2014/main" val="3782486069"/>
                    </a:ext>
                  </a:extLst>
                </a:gridCol>
                <a:gridCol w="910826">
                  <a:extLst>
                    <a:ext uri="{9D8B030D-6E8A-4147-A177-3AD203B41FA5}">
                      <a16:colId xmlns:a16="http://schemas.microsoft.com/office/drawing/2014/main" val="2211651345"/>
                    </a:ext>
                  </a:extLst>
                </a:gridCol>
                <a:gridCol w="752422">
                  <a:extLst>
                    <a:ext uri="{9D8B030D-6E8A-4147-A177-3AD203B41FA5}">
                      <a16:colId xmlns:a16="http://schemas.microsoft.com/office/drawing/2014/main" val="2692007052"/>
                    </a:ext>
                  </a:extLst>
                </a:gridCol>
                <a:gridCol w="752422">
                  <a:extLst>
                    <a:ext uri="{9D8B030D-6E8A-4147-A177-3AD203B41FA5}">
                      <a16:colId xmlns:a16="http://schemas.microsoft.com/office/drawing/2014/main" val="2167662389"/>
                    </a:ext>
                  </a:extLst>
                </a:gridCol>
                <a:gridCol w="623717">
                  <a:extLst>
                    <a:ext uri="{9D8B030D-6E8A-4147-A177-3AD203B41FA5}">
                      <a16:colId xmlns:a16="http://schemas.microsoft.com/office/drawing/2014/main" val="799385333"/>
                    </a:ext>
                  </a:extLst>
                </a:gridCol>
                <a:gridCol w="1092421">
                  <a:extLst>
                    <a:ext uri="{9D8B030D-6E8A-4147-A177-3AD203B41FA5}">
                      <a16:colId xmlns:a16="http://schemas.microsoft.com/office/drawing/2014/main" val="2337111441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756470202"/>
                    </a:ext>
                  </a:extLst>
                </a:gridCol>
                <a:gridCol w="1089891">
                  <a:extLst>
                    <a:ext uri="{9D8B030D-6E8A-4147-A177-3AD203B41FA5}">
                      <a16:colId xmlns:a16="http://schemas.microsoft.com/office/drawing/2014/main" val="481860910"/>
                    </a:ext>
                  </a:extLst>
                </a:gridCol>
                <a:gridCol w="646319">
                  <a:extLst>
                    <a:ext uri="{9D8B030D-6E8A-4147-A177-3AD203B41FA5}">
                      <a16:colId xmlns:a16="http://schemas.microsoft.com/office/drawing/2014/main" val="1897083273"/>
                    </a:ext>
                  </a:extLst>
                </a:gridCol>
              </a:tblGrid>
              <a:tr h="46550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Quantity  top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GCV top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GCV BTM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Aging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Blending possibility @ 20%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Blending possibility @ 15%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Blending possibility @ 10%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63953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1A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3410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3148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321238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1B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21723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2773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448973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1C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10680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3502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3552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673861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1D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14369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3529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66511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2A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7950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2655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2655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268086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2B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8405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353815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2C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3129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558618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2D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7506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3637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3637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739321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3A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10277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185903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3B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3173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113491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3C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3153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379074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3D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10173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080495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4A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12261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049701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4B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9297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3545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913034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4C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5202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3566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755219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PILE 4D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2237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896171"/>
                  </a:ext>
                </a:extLst>
              </a:tr>
              <a:tr h="159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537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43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0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5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80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5" grpId="0"/>
      <p:bldP spid="9" grpId="0" animBg="1"/>
      <p:bldP spid="11" grpId="0" animBg="1"/>
      <p:bldP spid="13" grpId="0" animBg="1"/>
      <p:bldP spid="15" grpId="0" animBg="1"/>
      <p:bldP spid="149" grpId="0" animBg="1"/>
      <p:bldP spid="150" grpId="0" animBg="1"/>
      <p:bldP spid="151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39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A89E"/>
      </a:accent1>
      <a:accent2>
        <a:srgbClr val="0C2834"/>
      </a:accent2>
      <a:accent3>
        <a:srgbClr val="01A89E"/>
      </a:accent3>
      <a:accent4>
        <a:srgbClr val="0C2834"/>
      </a:accent4>
      <a:accent5>
        <a:srgbClr val="01A89E"/>
      </a:accent5>
      <a:accent6>
        <a:srgbClr val="0C2834"/>
      </a:accent6>
      <a:hlink>
        <a:srgbClr val="01A89E"/>
      </a:hlink>
      <a:folHlink>
        <a:srgbClr val="01A89E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2044</TotalTime>
  <Words>337</Words>
  <Application>Microsoft Office PowerPoint</Application>
  <PresentationFormat>Widescreen</PresentationFormat>
  <Paragraphs>244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等线</vt:lpstr>
      <vt:lpstr>微软雅黑</vt:lpstr>
      <vt:lpstr>Arial</vt:lpstr>
      <vt:lpstr>Calibri</vt:lpstr>
      <vt:lpstr>包图主题2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WIN7</dc:creator>
  <cp:lastModifiedBy>Shuvadeep Maity</cp:lastModifiedBy>
  <cp:revision>187</cp:revision>
  <dcterms:created xsi:type="dcterms:W3CDTF">2017-08-18T03:02:00Z</dcterms:created>
  <dcterms:modified xsi:type="dcterms:W3CDTF">2025-01-29T11:33:42Z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